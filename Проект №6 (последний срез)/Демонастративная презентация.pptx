
<file path=[Content_Types].xml><?xml version="1.0" encoding="UTF-8" standalone="yes"?>
<Types xmlns="http://schemas.openxmlformats.org/package/2006/content-types"><Default  Extension="net/i?id=31222959cf6013f26da6620a20a8a8a4_l-5209122-images-thumbs&n=13" ContentType="application/unknown"/><Default  Extension="net/i?id=4b54294e7a01136c3515262c72637acc_l-12422539-images-thumbs&n=13" ContentType="application/unknown"/><Default  Extension="wmf" ContentType="image/x-wmf"/><Default  Extension="png" ContentType="image/png"/><Default  Extension="jpg" ContentType="image/jpeg"/><Default  Extension="jpeg" ContentType="image/jpeg"/><Default  Extension="xml" ContentType="application/xml"/><Default  Extension="rels" ContentType="application/vnd.openxmlformats-package.relationships+xml"/><Default  Extension="bin" ContentType="application/vnd.openxmlformats-officedocument.oleObject"/><Override  PartName="/ppt/slides/slide12.xml" ContentType="application/vnd.openxmlformats-officedocument.presentationml.slide+xml"/><Override  PartName="/ppt/slides/slide9.xml" ContentType="application/vnd.openxmlformats-officedocument.presentationml.slide+xml"/><Override  PartName="/ppt/slides/slide13.xml" ContentType="application/vnd.openxmlformats-officedocument.presentationml.slide+xml"/><Override  PartName="/ppt/slides/slide10.xml" ContentType="application/vnd.openxmlformats-officedocument.presentationml.slide+xml"/><Override  PartName="/ppt/slides/slide6.xml" ContentType="application/vnd.openxmlformats-officedocument.presentationml.slide+xml"/><Override  PartName="/ppt/slides/slide3.xml" ContentType="application/vnd.openxmlformats-officedocument.presentationml.slide+xml"/><Override  PartName="/ppt/slides/slide2.xml" ContentType="application/vnd.openxmlformats-officedocument.presentationml.slide+xml"/><Override  PartName="/ppt/slides/slide1.xml" ContentType="application/vnd.openxmlformats-officedocument.presentationml.slide+xml"/><Override  PartName="/ppt/slideLayouts/slideLayout10.xml" ContentType="application/vnd.openxmlformats-officedocument.presentationml.slideLayout+xml"/><Override  PartName="/ppt/slideLayouts/slideLayout4.xml" ContentType="application/vnd.openxmlformats-officedocument.presentationml.slideLayout+xml"/><Override  PartName="/ppt/slideLayouts/slideLayout11.xml" ContentType="application/vnd.openxmlformats-officedocument.presentationml.slideLayout+xml"/><Override  PartName="/ppt/slideLayouts/slideLayout3.xml" ContentType="application/vnd.openxmlformats-officedocument.presentationml.slideLayout+xml"/><Override  PartName="/ppt/slideLayouts/slideLayout7.xml" ContentType="application/vnd.openxmlformats-officedocument.presentationml.slideLayout+xml"/><Override  PartName="/ppt/slideLayouts/slideLayout9.xml" ContentType="application/vnd.openxmlformats-officedocument.presentationml.slideLayout+xml"/><Override  PartName="/ppt/slideLayouts/slideLayout1.xml" ContentType="application/vnd.openxmlformats-officedocument.presentationml.slideLayout+xml"/><Override  PartName="/ppt/slideLayouts/slideLayout8.xml" ContentType="application/vnd.openxmlformats-officedocument.presentationml.slideLayout+xml"/><Override  PartName="/ppt/slideLayouts/slideLayout2.xml" ContentType="application/vnd.openxmlformats-officedocument.presentationml.slideLayout+xml"/><Override  PartName="/ppt/slides/slide8.xml" ContentType="application/vnd.openxmlformats-officedocument.presentationml.slide+xml"/><Override  PartName="/docProps/app.xml" ContentType="application/vnd.openxmlformats-officedocument.extended-properties+xml"/><Override  PartName="/ppt/slideLayouts/slideLayout6.xml" ContentType="application/vnd.openxmlformats-officedocument.presentationml.slideLayout+xml"/><Override  PartName="/ppt/slideLayouts/slideLayout5.xml" ContentType="application/vnd.openxmlformats-officedocument.presentationml.slideLayout+xml"/><Override  PartName="/ppt/slides/slide4.xml" ContentType="application/vnd.openxmlformats-officedocument.presentationml.slide+xml"/><Override  PartName="/docProps/core.xml" ContentType="application/vnd.openxmlformats-package.core-properties+xml"/><Override  PartName="/ppt/viewProps.xml" ContentType="application/vnd.openxmlformats-officedocument.presentationml.viewProps+xml"/><Override  PartName="/ppt/slides/slide11.xml" ContentType="application/vnd.openxmlformats-officedocument.presentationml.slide+xml"/><Override  PartName="/ppt/slides/slide7.xml" ContentType="application/vnd.openxmlformats-officedocument.presentationml.slide+xml"/><Override  PartName="/ppt/slides/slide5.xml" ContentType="application/vnd.openxmlformats-officedocument.presentationml.slide+xml"/><Override  PartName="/ppt/presProps.xml" ContentType="application/vnd.openxmlformats-officedocument.presentationml.presProps+xml"/><Override  PartName="/ppt/slideMasters/slideMaster1.xml" ContentType="application/vnd.openxmlformats-officedocument.presentationml.slideMaster+xml"/><Override  PartName="/ppt/presentation.xml" ContentType="application/vnd.openxmlformats-officedocument.presentationml.presentation.main+xml"/><Override  PartName="/ppt/tableStyles.xml" ContentType="application/vnd.openxmlformats-officedocument.presentationml.tableStyles+xml"/><Override  PartName="/ppt/theme/theme1.xml" ContentType="application/vnd.openxmlformats-officedocument.theme+xml"/>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49" y="1709737"/>
            <a:ext cx="10515600" cy="2852736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49" y="4589462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6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7" y="2505074"/>
            <a:ext cx="5157786" cy="3684587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7" y="987424"/>
            <a:ext cx="6172200" cy="48736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4"/>
            <a:ext cx="6172200" cy="487362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18256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4">
                <a:lumMod val="40000"/>
                <a:lumOff val="60000"/>
              </a:schemeClr>
            </a:gs>
            <a:gs pos="66000">
              <a:schemeClr val="accent6">
                <a:lumMod val="60000"/>
                <a:lumOff val="4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129272" name=""/>
          <p:cNvSpPr txBox="1"/>
          <p:nvPr/>
        </p:nvSpPr>
        <p:spPr bwMode="auto">
          <a:xfrm flipH="0" flipV="0">
            <a:off x="870218" y="295635"/>
            <a:ext cx="10746759" cy="17377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3600" b="0">
                <a:latin typeface="Verdana"/>
                <a:ea typeface="Verdana"/>
                <a:cs typeface="Verdana"/>
              </a:rPr>
              <a:t>Проект по чемпионату </a:t>
            </a:r>
            <a:r>
              <a:rPr lang="ru-RU" sz="3600" b="0">
                <a:latin typeface="Verdana"/>
                <a:ea typeface="Verdana"/>
                <a:cs typeface="Verdana"/>
              </a:rPr>
              <a:t>«Профессионалы»</a:t>
            </a:r>
            <a:r>
              <a:rPr lang="ru-RU" sz="3600" b="0">
                <a:latin typeface="Verdana"/>
                <a:ea typeface="Verdana"/>
                <a:cs typeface="Verdana"/>
              </a:rPr>
              <a:t> в компетенции «Машинное обучение и большие данные»</a:t>
            </a:r>
            <a:endParaRPr sz="3600" b="0">
              <a:latin typeface="Verdana"/>
              <a:cs typeface="Verdana"/>
            </a:endParaRPr>
          </a:p>
        </p:txBody>
      </p:sp>
      <p:pic>
        <p:nvPicPr>
          <p:cNvPr id="160241791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21164" y="2333083"/>
            <a:ext cx="3486334" cy="3486334"/>
          </a:xfrm>
          <a:prstGeom prst="rect">
            <a:avLst/>
          </a:prstGeom>
        </p:spPr>
      </p:pic>
      <p:sp>
        <p:nvSpPr>
          <p:cNvPr id="2109866979" name=""/>
          <p:cNvSpPr txBox="1"/>
          <p:nvPr/>
        </p:nvSpPr>
        <p:spPr bwMode="auto">
          <a:xfrm flipH="0" flipV="0">
            <a:off x="4375048" y="3176911"/>
            <a:ext cx="7054642" cy="1798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0">
                <a:latin typeface="Verdana"/>
                <a:cs typeface="Verdana"/>
              </a:rPr>
              <a:t>Делал студент группы ИВ1-24-1 </a:t>
            </a:r>
            <a:r>
              <a:rPr sz="2800" b="0" i="1">
                <a:latin typeface="Verdana"/>
                <a:cs typeface="Verdana"/>
              </a:rPr>
              <a:t>колледжа судостроение информационных и прикладных технологий </a:t>
            </a:r>
            <a:r>
              <a:rPr sz="2800" b="0" i="0">
                <a:latin typeface="Verdana"/>
                <a:cs typeface="Verdana"/>
              </a:rPr>
              <a:t>Гурбанов Роман</a:t>
            </a:r>
            <a:r>
              <a:rPr sz="2800" b="0">
                <a:latin typeface="Verdana"/>
                <a:cs typeface="Verdana"/>
              </a:rPr>
              <a:t> </a:t>
            </a:r>
            <a:endParaRPr sz="2800" b="0" i="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4">
                <a:lumMod val="40000"/>
                <a:lumOff val="60000"/>
              </a:schemeClr>
            </a:gs>
            <a:gs pos="66000">
              <a:schemeClr val="accent6">
                <a:lumMod val="60000"/>
                <a:lumOff val="4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136015" name=""/>
          <p:cNvSpPr txBox="1"/>
          <p:nvPr/>
        </p:nvSpPr>
        <p:spPr bwMode="auto">
          <a:xfrm flipH="0" flipV="0">
            <a:off x="343016" y="295635"/>
            <a:ext cx="574937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3600" b="1">
                <a:latin typeface="Verdana"/>
                <a:ea typeface="Verdana"/>
                <a:cs typeface="Verdana"/>
              </a:rPr>
              <a:t>Цель проекта</a:t>
            </a:r>
            <a:endParaRPr sz="3600" b="1">
              <a:latin typeface="Verdana"/>
              <a:cs typeface="Verdana"/>
            </a:endParaRPr>
          </a:p>
        </p:txBody>
      </p:sp>
      <p:sp>
        <p:nvSpPr>
          <p:cNvPr id="583972354" name=""/>
          <p:cNvSpPr txBox="1"/>
          <p:nvPr/>
        </p:nvSpPr>
        <p:spPr bwMode="auto">
          <a:xfrm flipH="0" flipV="0">
            <a:off x="559323" y="1084037"/>
            <a:ext cx="5316760" cy="1371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0">
                <a:latin typeface="Roboto"/>
                <a:ea typeface="Roboto"/>
                <a:cs typeface="Roboto"/>
              </a:rPr>
              <a:t>Решить проблему опасности </a:t>
            </a:r>
            <a:r>
              <a:rPr sz="2800" b="0">
                <a:latin typeface="Roboto"/>
                <a:ea typeface="Roboto"/>
                <a:cs typeface="Roboto"/>
              </a:rPr>
              <a:t>маршрутов для туристов и спортсменов</a:t>
            </a:r>
            <a:r>
              <a:rPr sz="2800" b="0">
                <a:latin typeface="Roboto"/>
                <a:ea typeface="Roboto"/>
                <a:cs typeface="Roboto"/>
              </a:rPr>
              <a:t>.</a:t>
            </a:r>
            <a:endParaRPr sz="2800" b="0" i="0">
              <a:latin typeface="Roboto"/>
              <a:cs typeface="Roboto"/>
            </a:endParaRPr>
          </a:p>
        </p:txBody>
      </p:sp>
      <p:pic>
        <p:nvPicPr>
          <p:cNvPr id="191178633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30412" y="2732371"/>
            <a:ext cx="6174581" cy="3473202"/>
          </a:xfrm>
          <a:prstGeom prst="rect">
            <a:avLst/>
          </a:prstGeom>
        </p:spPr>
      </p:pic>
      <p:pic>
        <p:nvPicPr>
          <p:cNvPr id="1785121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19412" y="2732371"/>
            <a:ext cx="5326291" cy="3470966"/>
          </a:xfrm>
          <a:prstGeom prst="rect">
            <a:avLst/>
          </a:prstGeom>
        </p:spPr>
      </p:pic>
      <p:sp>
        <p:nvSpPr>
          <p:cNvPr id="54534424" name=""/>
          <p:cNvSpPr txBox="1"/>
          <p:nvPr/>
        </p:nvSpPr>
        <p:spPr bwMode="auto">
          <a:xfrm flipH="0" flipV="0">
            <a:off x="6654767" y="1190198"/>
            <a:ext cx="5255579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Помочь им выбирать безопасные маршруты.</a:t>
            </a:r>
            <a:endParaRPr sz="2800" b="0" i="0">
              <a:latin typeface="Roboto"/>
              <a:cs typeface="Roboto"/>
            </a:endParaRPr>
          </a:p>
        </p:txBody>
      </p:sp>
      <p:sp>
        <p:nvSpPr>
          <p:cNvPr id="1096405035" name=""/>
          <p:cNvSpPr txBox="1"/>
          <p:nvPr/>
        </p:nvSpPr>
        <p:spPr bwMode="auto">
          <a:xfrm flipH="0" flipV="0">
            <a:off x="6304994" y="295635"/>
            <a:ext cx="575225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3600" b="1">
                <a:latin typeface="Verdana"/>
                <a:ea typeface="Verdana"/>
                <a:cs typeface="Verdana"/>
              </a:rPr>
              <a:t>Задача проекта</a:t>
            </a:r>
            <a:endParaRPr sz="3600" b="1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4">
                <a:lumMod val="40000"/>
                <a:lumOff val="60000"/>
              </a:schemeClr>
            </a:gs>
            <a:gs pos="66000">
              <a:schemeClr val="accent6">
                <a:lumMod val="60000"/>
                <a:lumOff val="4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9438" name=""/>
          <p:cNvSpPr txBox="1"/>
          <p:nvPr/>
        </p:nvSpPr>
        <p:spPr bwMode="auto">
          <a:xfrm flipH="0" flipV="0">
            <a:off x="3217882" y="295635"/>
            <a:ext cx="5769172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latin typeface="Verdana"/>
                <a:cs typeface="Verdana"/>
              </a:rPr>
              <a:t>Язык программирования</a:t>
            </a:r>
            <a:endParaRPr sz="3600" b="1">
              <a:latin typeface="Verdana"/>
              <a:cs typeface="Verdana"/>
            </a:endParaRPr>
          </a:p>
        </p:txBody>
      </p:sp>
      <p:pic>
        <p:nvPicPr>
          <p:cNvPr id="166435988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614482" y="1960485"/>
            <a:ext cx="4164662" cy="4164662"/>
          </a:xfrm>
          <a:prstGeom prst="rect">
            <a:avLst/>
          </a:prstGeom>
        </p:spPr>
      </p:pic>
      <p:sp>
        <p:nvSpPr>
          <p:cNvPr id="652057549" name=""/>
          <p:cNvSpPr txBox="1"/>
          <p:nvPr/>
        </p:nvSpPr>
        <p:spPr bwMode="auto">
          <a:xfrm flipH="0" flipV="0">
            <a:off x="5737963" y="2859825"/>
            <a:ext cx="5373639" cy="2225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0">
                <a:latin typeface="Roboto"/>
                <a:ea typeface="Roboto"/>
                <a:cs typeface="Roboto"/>
              </a:rPr>
              <a:t>Преимущества </a:t>
            </a:r>
            <a:r>
              <a:rPr sz="2800" b="0">
                <a:latin typeface="Roboto"/>
                <a:ea typeface="Roboto"/>
                <a:cs typeface="Roboto"/>
              </a:rPr>
              <a:t>P</a:t>
            </a:r>
            <a:r>
              <a:rPr sz="2800" b="0">
                <a:latin typeface="Roboto"/>
                <a:ea typeface="Roboto"/>
                <a:cs typeface="Roboto"/>
              </a:rPr>
              <a:t>y</a:t>
            </a:r>
            <a:r>
              <a:rPr sz="2800" b="0">
                <a:latin typeface="Roboto"/>
                <a:ea typeface="Roboto"/>
                <a:cs typeface="Roboto"/>
              </a:rPr>
              <a:t>t</a:t>
            </a:r>
            <a:r>
              <a:rPr sz="2800" b="0">
                <a:latin typeface="Roboto"/>
                <a:ea typeface="Roboto"/>
                <a:cs typeface="Roboto"/>
              </a:rPr>
              <a:t>h</a:t>
            </a:r>
            <a:r>
              <a:rPr sz="2800" b="0">
                <a:latin typeface="Roboto"/>
                <a:ea typeface="Roboto"/>
                <a:cs typeface="Roboto"/>
              </a:rPr>
              <a:t>o</a:t>
            </a:r>
            <a:r>
              <a:rPr sz="2800" b="0">
                <a:latin typeface="Roboto"/>
                <a:ea typeface="Roboto"/>
                <a:cs typeface="Roboto"/>
              </a:rPr>
              <a:t>n</a:t>
            </a:r>
            <a:r>
              <a:rPr sz="2800" b="0">
                <a:latin typeface="Roboto"/>
                <a:ea typeface="Roboto"/>
                <a:cs typeface="Roboto"/>
              </a:rPr>
              <a:t>:</a:t>
            </a:r>
            <a:endParaRPr sz="2800" b="0">
              <a:latin typeface="Roboto"/>
              <a:ea typeface="Roboto"/>
              <a:cs typeface="Roboto"/>
            </a:endParaRPr>
          </a:p>
          <a:p>
            <a:pPr marL="394023" indent="-394023" algn="ctr">
              <a:buFont typeface="Arial"/>
              <a:buChar char="•"/>
              <a:defRPr/>
            </a:pPr>
            <a:r>
              <a:rPr sz="2800" b="0">
                <a:latin typeface="Roboto"/>
                <a:ea typeface="Roboto"/>
                <a:cs typeface="Roboto"/>
              </a:rPr>
              <a:t>Удобство</a:t>
            </a:r>
            <a:endParaRPr sz="2800" b="0">
              <a:latin typeface="Roboto"/>
              <a:ea typeface="Roboto"/>
              <a:cs typeface="Roboto"/>
            </a:endParaRPr>
          </a:p>
          <a:p>
            <a:pPr marL="394023" indent="-394023" algn="ctr">
              <a:buFont typeface="Arial"/>
              <a:buChar char="•"/>
              <a:defRPr/>
            </a:pPr>
            <a:r>
              <a:rPr sz="2800" b="0">
                <a:latin typeface="Roboto"/>
                <a:ea typeface="Roboto"/>
                <a:cs typeface="Roboto"/>
              </a:rPr>
              <a:t>Простота</a:t>
            </a:r>
            <a:endParaRPr sz="2800" b="0">
              <a:latin typeface="Roboto"/>
              <a:ea typeface="Roboto"/>
              <a:cs typeface="Roboto"/>
            </a:endParaRPr>
          </a:p>
          <a:p>
            <a:pPr marL="394023" indent="-394023" algn="ctr">
              <a:buFont typeface="Arial"/>
              <a:buChar char="•"/>
              <a:defRPr/>
            </a:pPr>
            <a:r>
              <a:rPr sz="2800" b="0">
                <a:latin typeface="Roboto"/>
                <a:ea typeface="Roboto"/>
                <a:cs typeface="Roboto"/>
              </a:rPr>
              <a:t>Популярность</a:t>
            </a:r>
            <a:endParaRPr sz="2800" b="0">
              <a:latin typeface="Roboto"/>
              <a:ea typeface="Roboto"/>
              <a:cs typeface="Roboto"/>
            </a:endParaRPr>
          </a:p>
          <a:p>
            <a:pPr marL="394023" indent="-394023" algn="ctr">
              <a:buFont typeface="Arial"/>
              <a:buChar char="•"/>
              <a:defRPr/>
            </a:pPr>
            <a:r>
              <a:rPr sz="2800" b="0">
                <a:latin typeface="Roboto"/>
                <a:ea typeface="Roboto"/>
                <a:cs typeface="Roboto"/>
              </a:rPr>
              <a:t>Направленность</a:t>
            </a:r>
            <a:endParaRPr sz="2800" b="0" i="0"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4">
                <a:lumMod val="40000"/>
                <a:lumOff val="60000"/>
              </a:schemeClr>
            </a:gs>
            <a:gs pos="66000">
              <a:schemeClr val="accent6">
                <a:lumMod val="60000"/>
                <a:lumOff val="4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050929" name=""/>
          <p:cNvSpPr txBox="1"/>
          <p:nvPr/>
        </p:nvSpPr>
        <p:spPr bwMode="auto">
          <a:xfrm flipH="0" flipV="0">
            <a:off x="3217882" y="295635"/>
            <a:ext cx="5759813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latin typeface="Verdana"/>
                <a:cs typeface="Verdana"/>
              </a:rPr>
              <a:t>Изначальные данные</a:t>
            </a:r>
            <a:endParaRPr sz="3600" b="1">
              <a:latin typeface="Verdana"/>
              <a:cs typeface="Verdana"/>
            </a:endParaRPr>
          </a:p>
        </p:txBody>
      </p:sp>
      <p:sp>
        <p:nvSpPr>
          <p:cNvPr id="1130183814" name=""/>
          <p:cNvSpPr txBox="1"/>
          <p:nvPr/>
        </p:nvSpPr>
        <p:spPr bwMode="auto">
          <a:xfrm flipH="0" flipV="0">
            <a:off x="41458" y="1630319"/>
            <a:ext cx="12158116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GPX (англ. GPS eXchange Format) — свободный текстовый формат хранения и обмена данными GPS, основанный на XML. </a:t>
            </a:r>
            <a:endParaRPr sz="2800" b="0" i="0">
              <a:latin typeface="Roboto"/>
              <a:cs typeface="Roboto"/>
            </a:endParaRPr>
          </a:p>
        </p:txBody>
      </p:sp>
      <p:pic>
        <p:nvPicPr>
          <p:cNvPr id="589770421" name=""/>
          <p:cNvPicPr>
            <a:picLocks noChangeAspect="1"/>
          </p:cNvPicPr>
          <p:nvPr/>
        </p:nvPicPr>
        <p:blipFill>
          <a:blip r:embed="rId2"/>
          <a:srcRect l="0" t="0" r="0" b="0"/>
          <a:stretch/>
        </p:blipFill>
        <p:spPr bwMode="auto">
          <a:xfrm flipH="0" flipV="0">
            <a:off x="5410776" y="2767383"/>
            <a:ext cx="6079379" cy="3801211"/>
          </a:xfrm>
          <a:prstGeom prst="rect">
            <a:avLst/>
          </a:prstGeom>
        </p:spPr>
      </p:pic>
      <p:pic>
        <p:nvPicPr>
          <p:cNvPr id="10260650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39679" y="3081106"/>
            <a:ext cx="3173766" cy="31737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4">
                <a:lumMod val="40000"/>
                <a:lumOff val="60000"/>
              </a:schemeClr>
            </a:gs>
            <a:gs pos="66000">
              <a:schemeClr val="accent6">
                <a:lumMod val="60000"/>
                <a:lumOff val="4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6446" name=""/>
          <p:cNvSpPr txBox="1"/>
          <p:nvPr/>
        </p:nvSpPr>
        <p:spPr bwMode="auto">
          <a:xfrm flipH="0" flipV="0">
            <a:off x="3217882" y="295635"/>
            <a:ext cx="5772412" cy="17377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latin typeface="Verdana"/>
                <a:cs typeface="Verdana"/>
              </a:rPr>
              <a:t>Дополнение дополнительными данными</a:t>
            </a:r>
            <a:endParaRPr sz="3600" b="1">
              <a:latin typeface="Verdana"/>
              <a:cs typeface="Verdana"/>
            </a:endParaRPr>
          </a:p>
        </p:txBody>
      </p:sp>
      <p:pic>
        <p:nvPicPr>
          <p:cNvPr id="87035976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784362" y="2218307"/>
            <a:ext cx="8639452" cy="4319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4">
                <a:lumMod val="40000"/>
                <a:lumOff val="60000"/>
              </a:schemeClr>
            </a:gs>
            <a:gs pos="66000">
              <a:schemeClr val="accent6">
                <a:lumMod val="60000"/>
                <a:lumOff val="4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726098" name=""/>
          <p:cNvSpPr txBox="1"/>
          <p:nvPr/>
        </p:nvSpPr>
        <p:spPr bwMode="auto">
          <a:xfrm flipH="0" flipV="0">
            <a:off x="3217882" y="295635"/>
            <a:ext cx="5784651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latin typeface="Verdana"/>
                <a:cs typeface="Verdana"/>
              </a:rPr>
              <a:t>Визуализация данных и их анализ</a:t>
            </a:r>
            <a:endParaRPr sz="3600" b="1">
              <a:latin typeface="Verdana"/>
              <a:cs typeface="Verdana"/>
            </a:endParaRPr>
          </a:p>
        </p:txBody>
      </p:sp>
      <p:pic>
        <p:nvPicPr>
          <p:cNvPr id="153017659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521989" y="2373232"/>
            <a:ext cx="11148019" cy="3314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4">
                <a:lumMod val="40000"/>
                <a:lumOff val="60000"/>
              </a:schemeClr>
            </a:gs>
            <a:gs pos="66000">
              <a:schemeClr val="accent6">
                <a:lumMod val="60000"/>
                <a:lumOff val="4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400746" name=""/>
          <p:cNvSpPr txBox="1"/>
          <p:nvPr/>
        </p:nvSpPr>
        <p:spPr bwMode="auto">
          <a:xfrm flipH="0" flipV="0">
            <a:off x="3217882" y="295635"/>
            <a:ext cx="5784651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latin typeface="Verdana"/>
                <a:cs typeface="Verdana"/>
              </a:rPr>
              <a:t>Визуализация данных и их анализ</a:t>
            </a:r>
            <a:endParaRPr sz="3600" b="1">
              <a:latin typeface="Verdana"/>
              <a:cs typeface="Verdana"/>
            </a:endParaRPr>
          </a:p>
        </p:txBody>
      </p:sp>
      <p:pic>
        <p:nvPicPr>
          <p:cNvPr id="71052355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447653" y="2466566"/>
            <a:ext cx="11325109" cy="3046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4">
                <a:lumMod val="40000"/>
                <a:lumOff val="60000"/>
              </a:schemeClr>
            </a:gs>
            <a:gs pos="66000">
              <a:schemeClr val="accent6">
                <a:lumMod val="60000"/>
                <a:lumOff val="4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843709" name=""/>
          <p:cNvSpPr txBox="1"/>
          <p:nvPr/>
        </p:nvSpPr>
        <p:spPr bwMode="auto">
          <a:xfrm flipH="0" flipV="0">
            <a:off x="3217882" y="295635"/>
            <a:ext cx="579041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latin typeface="Verdana"/>
                <a:cs typeface="Verdana"/>
              </a:rPr>
              <a:t>Разметка данных</a:t>
            </a:r>
            <a:endParaRPr sz="3600" b="1">
              <a:latin typeface="Verdana"/>
              <a:cs typeface="Verdana"/>
            </a:endParaRPr>
          </a:p>
        </p:txBody>
      </p:sp>
      <p:pic>
        <p:nvPicPr>
          <p:cNvPr id="42186751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92936" y="1368640"/>
            <a:ext cx="3419474" cy="5124449"/>
          </a:xfrm>
          <a:prstGeom prst="rect">
            <a:avLst/>
          </a:prstGeom>
        </p:spPr>
      </p:pic>
      <p:sp>
        <p:nvSpPr>
          <p:cNvPr id="1200311686" name=""/>
          <p:cNvSpPr txBox="1"/>
          <p:nvPr/>
        </p:nvSpPr>
        <p:spPr bwMode="auto">
          <a:xfrm flipH="0" flipV="0">
            <a:off x="5964330" y="2604805"/>
            <a:ext cx="6087925" cy="2652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Кластеризация (кластерный анализ) — это разделение большой группы объектов на несколько поменьше, каждая малая группа называется кластером.</a:t>
            </a:r>
            <a:endParaRPr sz="2800" b="0" i="0"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4">
                <a:lumMod val="40000"/>
                <a:lumOff val="60000"/>
              </a:schemeClr>
            </a:gs>
            <a:gs pos="66000">
              <a:schemeClr val="accent6">
                <a:lumMod val="60000"/>
                <a:lumOff val="4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136492" name=""/>
          <p:cNvSpPr txBox="1"/>
          <p:nvPr/>
        </p:nvSpPr>
        <p:spPr bwMode="auto">
          <a:xfrm flipH="0" flipV="0">
            <a:off x="3217882" y="295635"/>
            <a:ext cx="5805170" cy="17377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latin typeface="Verdana"/>
                <a:cs typeface="Verdana"/>
              </a:rPr>
              <a:t>Обучение моделей машинного обучения</a:t>
            </a:r>
            <a:endParaRPr sz="3600" b="1">
              <a:latin typeface="Verdana"/>
              <a:cs typeface="Verdana"/>
            </a:endParaRPr>
          </a:p>
        </p:txBody>
      </p:sp>
      <p:pic>
        <p:nvPicPr>
          <p:cNvPr id="1538461167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958963" y="2199812"/>
            <a:ext cx="4517838" cy="4119937"/>
          </a:xfrm>
          <a:prstGeom prst="rect">
            <a:avLst/>
          </a:prstGeom>
        </p:spPr>
      </p:pic>
      <p:pic>
        <p:nvPicPr>
          <p:cNvPr id="4276920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156028" y="5105075"/>
            <a:ext cx="5734049" cy="847724"/>
          </a:xfrm>
          <a:prstGeom prst="rect">
            <a:avLst/>
          </a:prstGeom>
        </p:spPr>
      </p:pic>
      <p:sp>
        <p:nvSpPr>
          <p:cNvPr id="751009094" name=""/>
          <p:cNvSpPr txBox="1"/>
          <p:nvPr/>
        </p:nvSpPr>
        <p:spPr bwMode="auto">
          <a:xfrm flipH="0" flipV="0">
            <a:off x="5964330" y="2199812"/>
            <a:ext cx="6088644" cy="2652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Машинное обучение (machine learning, ML) — это совокупность методов искусственного интеллекта, с помощью которых создают самообучающиеся компьютерные системы.</a:t>
            </a:r>
            <a:endParaRPr sz="2800" b="0" i="0"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4">
                <a:lumMod val="40000"/>
                <a:lumOff val="60000"/>
              </a:schemeClr>
            </a:gs>
            <a:gs pos="66000">
              <a:schemeClr val="accent6">
                <a:lumMod val="60000"/>
                <a:lumOff val="4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386713" name=""/>
          <p:cNvSpPr txBox="1"/>
          <p:nvPr/>
        </p:nvSpPr>
        <p:spPr bwMode="auto">
          <a:xfrm flipH="0" flipV="0">
            <a:off x="3217882" y="295635"/>
            <a:ext cx="580877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3600" b="1">
                <a:latin typeface="Verdana"/>
                <a:cs typeface="Verdana"/>
              </a:rPr>
              <a:t>API-</a:t>
            </a:r>
            <a:r>
              <a:rPr lang="en-US" sz="3600" b="1">
                <a:latin typeface="Verdana"/>
                <a:cs typeface="Verdana"/>
              </a:rPr>
              <a:t>с</a:t>
            </a:r>
            <a:r>
              <a:rPr lang="en-US" sz="3600" b="1">
                <a:latin typeface="Verdana"/>
                <a:cs typeface="Verdana"/>
              </a:rPr>
              <a:t>е</a:t>
            </a:r>
            <a:r>
              <a:rPr lang="en-US" sz="3600" b="1">
                <a:latin typeface="Verdana"/>
                <a:cs typeface="Verdana"/>
              </a:rPr>
              <a:t>р</a:t>
            </a:r>
            <a:r>
              <a:rPr lang="en-US" sz="3600" b="1">
                <a:latin typeface="Verdana"/>
                <a:cs typeface="Verdana"/>
              </a:rPr>
              <a:t>в</a:t>
            </a:r>
            <a:r>
              <a:rPr lang="en-US" sz="3600" b="1">
                <a:latin typeface="Verdana"/>
                <a:cs typeface="Verdana"/>
              </a:rPr>
              <a:t>и</a:t>
            </a:r>
            <a:r>
              <a:rPr lang="en-US" sz="3600" b="1">
                <a:latin typeface="Verdana"/>
                <a:cs typeface="Verdana"/>
              </a:rPr>
              <a:t>с</a:t>
            </a:r>
            <a:endParaRPr sz="3600" b="1">
              <a:latin typeface="Verdana"/>
              <a:cs typeface="Verdana"/>
            </a:endParaRPr>
          </a:p>
        </p:txBody>
      </p:sp>
      <p:pic>
        <p:nvPicPr>
          <p:cNvPr id="1430324867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369800" y="3772720"/>
            <a:ext cx="10044243" cy="2814059"/>
          </a:xfrm>
          <a:prstGeom prst="rect">
            <a:avLst/>
          </a:prstGeom>
        </p:spPr>
      </p:pic>
      <p:sp>
        <p:nvSpPr>
          <p:cNvPr id="2074944372" name=""/>
          <p:cNvSpPr txBox="1"/>
          <p:nvPr/>
        </p:nvSpPr>
        <p:spPr bwMode="auto">
          <a:xfrm flipH="0" flipV="0">
            <a:off x="1728420" y="1203599"/>
            <a:ext cx="9327004" cy="2225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API (Application Programming Interface) — это программный интерфейс приложения, набор правил, по которым одни программы могут общаться с другими: передавать данные, пользоваться функциями, получать нужные ответы. </a:t>
            </a:r>
            <a:endParaRPr sz="2800" b="0" i="0"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4">
                <a:lumMod val="40000"/>
                <a:lumOff val="60000"/>
              </a:schemeClr>
            </a:gs>
            <a:gs pos="66000">
              <a:schemeClr val="accent6">
                <a:lumMod val="60000"/>
                <a:lumOff val="4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704873" name=""/>
          <p:cNvSpPr txBox="1"/>
          <p:nvPr/>
        </p:nvSpPr>
        <p:spPr bwMode="auto">
          <a:xfrm flipH="0" flipV="0">
            <a:off x="3217882" y="295635"/>
            <a:ext cx="5800130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3600" b="1">
                <a:latin typeface="Verdana"/>
                <a:cs typeface="Verdana"/>
              </a:rPr>
              <a:t>Графический интерфейс</a:t>
            </a:r>
            <a:endParaRPr sz="3600" b="1">
              <a:latin typeface="Verdana"/>
              <a:cs typeface="Verdana"/>
            </a:endParaRPr>
          </a:p>
        </p:txBody>
      </p:sp>
      <p:pic>
        <p:nvPicPr>
          <p:cNvPr id="15229754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81869" y="1835244"/>
            <a:ext cx="10072156" cy="44952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4">
                <a:lumMod val="40000"/>
                <a:lumOff val="60000"/>
              </a:schemeClr>
            </a:gs>
            <a:gs pos="66000">
              <a:schemeClr val="accent6">
                <a:lumMod val="60000"/>
                <a:lumOff val="4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4037" name=""/>
          <p:cNvSpPr txBox="1"/>
          <p:nvPr/>
        </p:nvSpPr>
        <p:spPr bwMode="auto">
          <a:xfrm flipH="0" flipV="0">
            <a:off x="3217882" y="295635"/>
            <a:ext cx="5800130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3600" b="1">
                <a:latin typeface="Verdana"/>
                <a:cs typeface="Verdana"/>
              </a:rPr>
              <a:t>Графический интерфейс</a:t>
            </a:r>
            <a:endParaRPr sz="3600" b="1">
              <a:latin typeface="Verdana"/>
              <a:cs typeface="Verdana"/>
            </a:endParaRPr>
          </a:p>
        </p:txBody>
      </p:sp>
      <p:pic>
        <p:nvPicPr>
          <p:cNvPr id="138784698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81869" y="1835244"/>
            <a:ext cx="10072156" cy="44952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4">
                <a:lumMod val="40000"/>
                <a:lumOff val="60000"/>
              </a:schemeClr>
            </a:gs>
            <a:gs pos="66000">
              <a:schemeClr val="accent6">
                <a:lumMod val="60000"/>
                <a:lumOff val="4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317624" name=""/>
          <p:cNvSpPr txBox="1"/>
          <p:nvPr/>
        </p:nvSpPr>
        <p:spPr bwMode="auto">
          <a:xfrm flipH="0" flipV="0">
            <a:off x="3217882" y="295635"/>
            <a:ext cx="580193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3600" b="1">
                <a:latin typeface="Verdana"/>
                <a:cs typeface="Verdana"/>
              </a:rPr>
              <a:t>Итоги</a:t>
            </a:r>
            <a:endParaRPr sz="3600" b="1">
              <a:latin typeface="Verdana"/>
              <a:cs typeface="Verdana"/>
            </a:endParaRPr>
          </a:p>
        </p:txBody>
      </p:sp>
      <p:sp>
        <p:nvSpPr>
          <p:cNvPr id="809156607" name=""/>
          <p:cNvSpPr txBox="1"/>
          <p:nvPr/>
        </p:nvSpPr>
        <p:spPr bwMode="auto">
          <a:xfrm flipH="0" flipV="0">
            <a:off x="4976193" y="1111124"/>
            <a:ext cx="7082768" cy="5639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В любых походах, особенно в неизвестные места, безопасность превыше всего. Лучше всего помогает обеспечить эту безопасность - осведомленность людей о месте, куда они собираются пойти. Мое приложение помогает получить ту частичку информации о маршруте, которая поможет избежать очень не приятных моментов.</a:t>
            </a:r>
            <a:r>
              <a:rPr lang="ru-RU" sz="2800" b="1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Главное помнить, что это только часть информации, которую нужно знать перед началом большого или не очень путешествия.</a:t>
            </a:r>
            <a:endParaRPr sz="2800" b="0" i="0">
              <a:latin typeface="Roboto"/>
              <a:cs typeface="Roboto"/>
            </a:endParaRPr>
          </a:p>
        </p:txBody>
      </p:sp>
      <p:pic>
        <p:nvPicPr>
          <p:cNvPr id="34695228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9393" y="1333721"/>
            <a:ext cx="4876799" cy="4876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Р7-Офис/2025.1.1.763</Application>
  <DocSecurity>0</DocSecurity>
  <PresentationFormat>Widescreen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>demoexam</cp:lastModifiedBy>
  <cp:revision>6</cp:revision>
  <dcterms:modified xsi:type="dcterms:W3CDTF">2026-02-03T08:11:55Z</dcterms:modified>
  <cp:category/>
  <cp:contentStatus/>
  <cp:version/>
</cp:coreProperties>
</file>